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4"/>
  </p:notesMasterIdLst>
  <p:handoutMasterIdLst>
    <p:handoutMasterId r:id="rId15"/>
  </p:handoutMasterIdLst>
  <p:sldIdLst>
    <p:sldId id="263" r:id="rId2"/>
    <p:sldId id="300" r:id="rId3"/>
    <p:sldId id="301" r:id="rId4"/>
    <p:sldId id="302" r:id="rId5"/>
    <p:sldId id="303" r:id="rId6"/>
    <p:sldId id="304" r:id="rId7"/>
    <p:sldId id="305" r:id="rId8"/>
    <p:sldId id="309" r:id="rId9"/>
    <p:sldId id="308" r:id="rId10"/>
    <p:sldId id="306" r:id="rId11"/>
    <p:sldId id="310" r:id="rId12"/>
    <p:sldId id="311" r:id="rId13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D1AFC3A-6A85-3645-B01B-A1C9A1BE9392}">
          <p14:sldIdLst>
            <p14:sldId id="263"/>
            <p14:sldId id="300"/>
            <p14:sldId id="301"/>
            <p14:sldId id="302"/>
            <p14:sldId id="303"/>
            <p14:sldId id="304"/>
            <p14:sldId id="305"/>
            <p14:sldId id="309"/>
            <p14:sldId id="308"/>
            <p14:sldId id="306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0F8"/>
    <a:srgbClr val="50555A"/>
    <a:srgbClr val="0569B9"/>
    <a:srgbClr val="001E69"/>
    <a:srgbClr val="823278"/>
    <a:srgbClr val="DC281E"/>
    <a:srgbClr val="FF641E"/>
    <a:srgbClr val="C8AA78"/>
    <a:srgbClr val="FFD200"/>
    <a:srgbClr val="D2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2" autoAdjust="0"/>
    <p:restoredTop sz="90629" autoAdjust="0"/>
  </p:normalViewPr>
  <p:slideViewPr>
    <p:cSldViewPr snapToGrid="0" showGuides="1">
      <p:cViewPr>
        <p:scale>
          <a:sx n="73" d="100"/>
          <a:sy n="73" d="100"/>
        </p:scale>
        <p:origin x="1120" y="968"/>
      </p:cViewPr>
      <p:guideLst/>
    </p:cSldViewPr>
  </p:slideViewPr>
  <p:outlineViewPr>
    <p:cViewPr>
      <p:scale>
        <a:sx n="33" d="100"/>
        <a:sy n="33" d="100"/>
      </p:scale>
      <p:origin x="0" y="-59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4760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8189F5-109F-D6EC-83A3-8AB8718F0F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2C3B1-F382-8835-C089-029CC9FE39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92133-D4D6-F841-9F51-0B11E0F82EC0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C6375-A0E6-0EF4-64EF-CF5E3EF2AF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4C66A-7AD1-F603-D53A-C0FA385814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145CF-6E28-C540-8F2B-2BCC455E9E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04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24744" y="4343400"/>
            <a:ext cx="4608512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2876" y="8686800"/>
            <a:ext cx="835124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9DD4D23-C98A-435E-AE88-9061F8349B02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003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2893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352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B24A36-FE4F-46DC-9398-209C4109B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9000">
                <a:srgbClr val="001E69">
                  <a:alpha val="95000"/>
                </a:srgbClr>
              </a:gs>
              <a:gs pos="60000">
                <a:srgbClr val="0569B9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rinity College Dublin Logo">
            <a:extLst>
              <a:ext uri="{FF2B5EF4-FFF2-40B4-BE49-F238E27FC236}">
                <a16:creationId xmlns:a16="http://schemas.microsoft.com/office/drawing/2014/main" id="{B38E7908-5FE9-4B2C-AE7A-9702E8173F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085" y="458214"/>
            <a:ext cx="2612141" cy="7010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425" y="2759301"/>
            <a:ext cx="10363200" cy="1470025"/>
          </a:xfrm>
        </p:spPr>
        <p:txBody>
          <a:bodyPr/>
          <a:lstStyle>
            <a:lvl1pPr algn="l">
              <a:lnSpc>
                <a:spcPts val="57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IE" noProof="0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425" y="5747131"/>
            <a:ext cx="5616575" cy="76635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IE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7702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CEE806A-CF7C-470D-97D3-25538F3A70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7999"/>
          </a:xfrm>
          <a:solidFill>
            <a:schemeClr val="tx2">
              <a:lumMod val="20000"/>
              <a:lumOff val="80000"/>
            </a:schemeClr>
          </a:solidFill>
        </p:spPr>
        <p:txBody>
          <a:bodyPr tIns="2844000"/>
          <a:lstStyle>
            <a:lvl1pPr algn="ctr">
              <a:defRPr sz="1600"/>
            </a:lvl1pPr>
          </a:lstStyle>
          <a:p>
            <a:r>
              <a:rPr lang="en-GB" dirty="0"/>
              <a:t>INSERT IMAGE HERE</a:t>
            </a:r>
          </a:p>
        </p:txBody>
      </p:sp>
      <p:pic>
        <p:nvPicPr>
          <p:cNvPr id="10" name="Picture 9" descr="Trinity College Dublin Logo">
            <a:extLst>
              <a:ext uri="{FF2B5EF4-FFF2-40B4-BE49-F238E27FC236}">
                <a16:creationId xmlns:a16="http://schemas.microsoft.com/office/drawing/2014/main" id="{B38E7908-5FE9-4B2C-AE7A-9702E8173F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085" y="458214"/>
            <a:ext cx="2612141" cy="7010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425" y="2759301"/>
            <a:ext cx="10363200" cy="1470025"/>
          </a:xfrm>
        </p:spPr>
        <p:txBody>
          <a:bodyPr/>
          <a:lstStyle>
            <a:lvl1pPr algn="l">
              <a:lnSpc>
                <a:spcPts val="57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IE" noProof="0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425" y="5747131"/>
            <a:ext cx="5616575" cy="76635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IE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613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47BD0104-81A8-4F57-AD36-A9408B9586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3200" cy="6857999"/>
          </a:xfrm>
          <a:solidFill>
            <a:schemeClr val="tx2">
              <a:lumMod val="20000"/>
              <a:lumOff val="80000"/>
            </a:schemeClr>
          </a:solidFill>
        </p:spPr>
        <p:txBody>
          <a:bodyPr tIns="2844000"/>
          <a:lstStyle>
            <a:lvl1pPr algn="ctr">
              <a:defRPr sz="16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GB" smtClean="0"/>
              <a:t>‹Nr.›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E2484-07A6-8EAD-8DDF-44B280B5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6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2977376"/>
            <a:ext cx="5148378" cy="3136153"/>
          </a:xfrm>
        </p:spPr>
        <p:txBody>
          <a:bodyPr anchor="b" anchorCtr="0"/>
          <a:lstStyle>
            <a:lvl1pPr>
              <a:lnSpc>
                <a:spcPts val="2700"/>
              </a:lnSpc>
              <a:spcBef>
                <a:spcPts val="0"/>
              </a:spcBef>
              <a:defRPr/>
            </a:lvl1pPr>
            <a:lvl2pPr>
              <a:lnSpc>
                <a:spcPts val="2700"/>
              </a:lnSpc>
              <a:spcBef>
                <a:spcPts val="0"/>
              </a:spcBef>
              <a:defRPr/>
            </a:lvl2pPr>
          </a:lstStyle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 dirty="0"/>
              <a:t>Second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18A99E4-B315-4225-95D6-345E5C7623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397867"/>
          </a:xfrm>
          <a:solidFill>
            <a:schemeClr val="tx2">
              <a:lumMod val="20000"/>
              <a:lumOff val="80000"/>
            </a:schemeClr>
          </a:solidFill>
        </p:spPr>
        <p:txBody>
          <a:bodyPr tIns="2844000"/>
          <a:lstStyle>
            <a:lvl1pPr algn="ctr">
              <a:defRPr sz="16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4D2C3-3FA2-DC94-A356-88D1E57B2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97867"/>
            <a:ext cx="12192000" cy="462583"/>
          </a:xfrm>
          <a:prstGeom prst="rect">
            <a:avLst/>
          </a:prstGeom>
          <a:solidFill>
            <a:srgbClr val="001E6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21E2C-B519-486B-BFF5-9AA5B4300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75343" y="6566847"/>
            <a:ext cx="218745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E" sz="900" spc="-10" baseline="0" noProof="0" dirty="0">
                <a:solidFill>
                  <a:schemeClr val="bg1"/>
                </a:solidFill>
              </a:rPr>
              <a:t>Trinity College Dublin, The University of Dublin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911E7EE-D8F6-49B2-8752-A4F75F969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740" y="6511066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‹Nr.›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43673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570291"/>
            <a:ext cx="5148378" cy="3136153"/>
          </a:xfrm>
        </p:spPr>
        <p:txBody>
          <a:bodyPr anchor="t" anchorCtr="0"/>
          <a:lstStyle>
            <a:lvl1pPr>
              <a:lnSpc>
                <a:spcPts val="2700"/>
              </a:lnSpc>
              <a:spcBef>
                <a:spcPts val="0"/>
              </a:spcBef>
              <a:defRPr/>
            </a:lvl1pPr>
            <a:lvl2pPr>
              <a:lnSpc>
                <a:spcPts val="2700"/>
              </a:lnSpc>
              <a:spcBef>
                <a:spcPts val="0"/>
              </a:spcBef>
              <a:defRPr/>
            </a:lvl2pPr>
          </a:lstStyle>
          <a:p>
            <a:pPr lvl="0"/>
            <a:r>
              <a:rPr lang="en-IE" noProof="0" dirty="0"/>
              <a:t>Click to edit Master text styles</a:t>
            </a:r>
          </a:p>
          <a:p>
            <a:pPr lvl="1"/>
            <a:r>
              <a:rPr lang="en-IE" noProof="0" dirty="0"/>
              <a:t>Second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58BC56-E630-A3A3-FD16-AAC67F62C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97867"/>
            <a:ext cx="12192000" cy="462583"/>
          </a:xfrm>
          <a:prstGeom prst="rect">
            <a:avLst/>
          </a:prstGeom>
          <a:solidFill>
            <a:srgbClr val="001E6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21E2C-B519-486B-BFF5-9AA5B4300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75343" y="6566847"/>
            <a:ext cx="218745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E" sz="900" spc="-10" baseline="0" noProof="0" dirty="0">
                <a:solidFill>
                  <a:schemeClr val="bg1"/>
                </a:solidFill>
              </a:rPr>
              <a:t>Trinity College Dublin, The University of Dublin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911E7EE-D8F6-49B2-8752-A4F75F969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740" y="6511066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‹Nr.›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104851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6" y="416911"/>
            <a:ext cx="5148378" cy="1716689"/>
          </a:xfrm>
        </p:spPr>
        <p:txBody>
          <a:bodyPr/>
          <a:lstStyle>
            <a:lvl1pPr>
              <a:lnSpc>
                <a:spcPts val="2700"/>
              </a:lnSpc>
              <a:defRPr sz="2400"/>
            </a:lvl1pPr>
          </a:lstStyle>
          <a:p>
            <a:r>
              <a:rPr lang="en-IE" noProof="0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18A99E4-B315-4225-95D6-345E5C7623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400800"/>
          </a:xfrm>
          <a:solidFill>
            <a:schemeClr val="tx2">
              <a:lumMod val="20000"/>
              <a:lumOff val="80000"/>
            </a:schemeClr>
          </a:solidFill>
        </p:spPr>
        <p:txBody>
          <a:bodyPr tIns="2844000"/>
          <a:lstStyle>
            <a:lvl1pPr algn="ctr">
              <a:defRPr sz="16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80613A-A989-9688-3CCA-23AA835F4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97867"/>
            <a:ext cx="12192000" cy="462583"/>
          </a:xfrm>
          <a:prstGeom prst="rect">
            <a:avLst/>
          </a:prstGeom>
          <a:solidFill>
            <a:srgbClr val="001E6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21E2C-B519-486B-BFF5-9AA5B4300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75343" y="6566847"/>
            <a:ext cx="218745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E" sz="900" spc="-10" baseline="0" noProof="0" dirty="0">
                <a:solidFill>
                  <a:schemeClr val="bg1"/>
                </a:solidFill>
              </a:rPr>
              <a:t>Trinity College Dublin, The University of Dublin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1EA15B7-E4F9-4825-A99A-F4CF9F1AD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740" y="6511066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‹Nr.›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175355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Op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6632D8C1-744B-46CE-83F2-FC8210F63AB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400799"/>
          </a:xfrm>
          <a:solidFill>
            <a:schemeClr val="tx2">
              <a:lumMod val="20000"/>
              <a:lumOff val="80000"/>
            </a:schemeClr>
          </a:solidFill>
        </p:spPr>
        <p:txBody>
          <a:bodyPr tIns="2844000"/>
          <a:lstStyle>
            <a:lvl1pPr algn="ctr">
              <a:defRPr sz="16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79830-E653-4586-AC6F-20840A55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75343" y="6566847"/>
            <a:ext cx="218745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E" sz="900" spc="-10" baseline="0" noProof="0" dirty="0">
                <a:solidFill>
                  <a:schemeClr val="bg1"/>
                </a:solidFill>
              </a:rPr>
              <a:t>Trinity College Dublin, The University of Dublin</a:t>
            </a:r>
          </a:p>
        </p:txBody>
      </p:sp>
      <p:sp>
        <p:nvSpPr>
          <p:cNvPr id="5" name="Slide Numb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1A6F78-857F-0BEC-5C3A-A3881419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43" y="-1012975"/>
            <a:ext cx="5148378" cy="10129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78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Op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6632D8C1-744B-46CE-83F2-FC8210F63AB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3200" cy="6857999"/>
          </a:xfrm>
          <a:solidFill>
            <a:schemeClr val="tx2">
              <a:lumMod val="20000"/>
              <a:lumOff val="80000"/>
            </a:schemeClr>
          </a:solidFill>
        </p:spPr>
        <p:txBody>
          <a:bodyPr tIns="2844000"/>
          <a:lstStyle>
            <a:lvl1pPr algn="ctr">
              <a:defRPr sz="16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411896"/>
            <a:ext cx="6711950" cy="1553392"/>
          </a:xfrm>
        </p:spPr>
        <p:txBody>
          <a:bodyPr/>
          <a:lstStyle>
            <a:lvl1pPr>
              <a:lnSpc>
                <a:spcPts val="34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IE" noProof="0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79830-E653-4586-AC6F-20840A55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75343" y="6566847"/>
            <a:ext cx="218745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E" sz="900" spc="-10" baseline="0" noProof="0" dirty="0">
                <a:solidFill>
                  <a:schemeClr val="bg1"/>
                </a:solidFill>
              </a:rPr>
              <a:t>Trinity College Dublin, The University of Dublin</a:t>
            </a:r>
          </a:p>
        </p:txBody>
      </p:sp>
      <p:sp>
        <p:nvSpPr>
          <p:cNvPr id="5" name="Slide Numb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204748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p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1E9B81-C4D9-4F57-B976-664E04E56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001E69">
                  <a:alpha val="95000"/>
                </a:srgbClr>
              </a:gs>
              <a:gs pos="60000">
                <a:srgbClr val="0569B9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7B2A62-B196-4B85-A992-548362744C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2250" y="2809876"/>
            <a:ext cx="7096125" cy="2114550"/>
          </a:xfrm>
        </p:spPr>
        <p:txBody>
          <a:bodyPr/>
          <a:lstStyle>
            <a:lvl1pPr>
              <a:lnSpc>
                <a:spcPts val="3400"/>
              </a:lnSpc>
              <a:spcBef>
                <a:spcPts val="0"/>
              </a:spcBef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9862F-224F-4A76-9B4E-727E9147E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75343" y="6566847"/>
            <a:ext cx="218745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E" sz="900" spc="-10" baseline="0" noProof="0" dirty="0">
                <a:solidFill>
                  <a:schemeClr val="bg1"/>
                </a:solidFill>
              </a:rPr>
              <a:t>Trinity College Dublin, The University of Dublin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1A688F5-35A9-294F-B0FE-08BEE1A1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6740" y="6511066"/>
            <a:ext cx="290100" cy="191861"/>
          </a:xfrm>
        </p:spPr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03DF8-A43D-18DA-9026-036A0E81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-1012975"/>
            <a:ext cx="5148378" cy="10129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3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p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7B2A62-B196-4B85-A992-548362744C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2250" y="2809876"/>
            <a:ext cx="7096125" cy="2114550"/>
          </a:xfrm>
        </p:spPr>
        <p:txBody>
          <a:bodyPr/>
          <a:lstStyle>
            <a:lvl1pPr>
              <a:lnSpc>
                <a:spcPts val="3400"/>
              </a:lnSpc>
              <a:spcBef>
                <a:spcPts val="0"/>
              </a:spcBef>
              <a:defRPr sz="3000">
                <a:solidFill>
                  <a:srgbClr val="0569B9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sp>
        <p:nvSpPr>
          <p:cNvPr id="4" name="Slide Numb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2488982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9C31A9-08D4-4D77-B37E-A5087A19A1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4" y="457200"/>
            <a:ext cx="5367600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188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819443-3862-421E-9D1F-C1C1E1F9A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4" y="4038600"/>
            <a:ext cx="5376863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1523B7-0D31-4926-B6EA-01E28AD2E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3698" y="457200"/>
            <a:ext cx="0" cy="4392000"/>
          </a:xfrm>
          <a:prstGeom prst="line">
            <a:avLst/>
          </a:prstGeom>
          <a:ln w="6350">
            <a:solidFill>
              <a:srgbClr val="5055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F507730-4B43-4F69-8959-C8C3C6C5B2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4614" y="457200"/>
            <a:ext cx="5367321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188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FF6C9C2-5549-4C12-A21F-41CD1B635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35712" y="4038600"/>
            <a:ext cx="5303838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sp>
        <p:nvSpPr>
          <p:cNvPr id="4" name="Slide Numb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8A38C-6CF3-2E2B-18C5-3753AC912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-1012975"/>
            <a:ext cx="5148378" cy="10129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45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9C31A9-08D4-4D77-B37E-A5087A19A1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5" y="457200"/>
            <a:ext cx="3425825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188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819443-3862-421E-9D1F-C1C1E1F9A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4038600"/>
            <a:ext cx="3397250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1523B7-0D31-4926-B6EA-01E28AD2E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143375" y="457200"/>
            <a:ext cx="0" cy="4320000"/>
          </a:xfrm>
          <a:prstGeom prst="line">
            <a:avLst/>
          </a:prstGeom>
          <a:ln w="6350">
            <a:solidFill>
              <a:srgbClr val="5055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F507730-4B43-4F69-8959-C8C3C6C5B2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75149" y="457200"/>
            <a:ext cx="3425825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188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FF6C9C2-5549-4C12-A21F-41CD1B635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75150" y="4038600"/>
            <a:ext cx="3397250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492E3B-9BE5-4B61-83C0-A34107DE1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39099" y="457200"/>
            <a:ext cx="0" cy="4320000"/>
          </a:xfrm>
          <a:prstGeom prst="line">
            <a:avLst/>
          </a:prstGeom>
          <a:ln w="6350">
            <a:solidFill>
              <a:srgbClr val="5055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1B7102AC-FA28-4F5A-9E72-AA9A2735594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70874" y="457200"/>
            <a:ext cx="3425825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188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2453ED-5664-44F6-917B-4CFD0EA378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70874" y="4038600"/>
            <a:ext cx="3397250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sp>
        <p:nvSpPr>
          <p:cNvPr id="4" name="Slide Numb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3E6F0-3BD6-70C5-28A5-E37F935E9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-1012975"/>
            <a:ext cx="5148378" cy="10129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1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9C31A9-08D4-4D77-B37E-A5087A19A1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6" y="457200"/>
            <a:ext cx="2435224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296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819443-3862-421E-9D1F-C1C1E1F9A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4038600"/>
            <a:ext cx="2449514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1523B7-0D31-4926-B6EA-01E28AD2E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71825" y="457200"/>
            <a:ext cx="0" cy="4320000"/>
          </a:xfrm>
          <a:prstGeom prst="line">
            <a:avLst/>
          </a:prstGeom>
          <a:ln w="6350">
            <a:solidFill>
              <a:srgbClr val="5055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C1641D7B-0A2D-4BB1-A366-38E53A50EE7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05188" y="457200"/>
            <a:ext cx="2435224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296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90AA397-2101-4A70-B8D3-8541F8BA33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4076" y="4038600"/>
            <a:ext cx="2449514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9E1275-FCF1-459F-991C-BA329E568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86475" y="457200"/>
            <a:ext cx="0" cy="4320000"/>
          </a:xfrm>
          <a:prstGeom prst="line">
            <a:avLst/>
          </a:prstGeom>
          <a:ln w="6350">
            <a:solidFill>
              <a:srgbClr val="5055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BC4A69A1-FCE3-4A09-B2F6-3F05EFC8A1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30950" y="457200"/>
            <a:ext cx="2435224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296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7DCFF6F-5624-43CB-992D-A9A15C278D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21426" y="4038600"/>
            <a:ext cx="2449514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6E0189-91FD-4811-BEE9-78B3C935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013825" y="457200"/>
            <a:ext cx="0" cy="4320000"/>
          </a:xfrm>
          <a:prstGeom prst="line">
            <a:avLst/>
          </a:prstGeom>
          <a:ln w="6350">
            <a:solidFill>
              <a:srgbClr val="5055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5E17F586-7CF3-4F8D-B0B1-2463938F4C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256712" y="457200"/>
            <a:ext cx="2435224" cy="3381375"/>
          </a:xfrm>
          <a:solidFill>
            <a:schemeClr val="tx2">
              <a:lumMod val="20000"/>
              <a:lumOff val="80000"/>
            </a:schemeClr>
          </a:solidFill>
        </p:spPr>
        <p:txBody>
          <a:bodyPr tIns="1296000"/>
          <a:lstStyle>
            <a:lvl1pPr algn="ctr">
              <a:defRPr sz="1100"/>
            </a:lvl1pPr>
          </a:lstStyle>
          <a:p>
            <a:r>
              <a:rPr lang="en-GB" dirty="0"/>
              <a:t>INSERT IMAGE HERE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A7D14AF8-1472-498A-A689-1E2F6799CD3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6712" y="4038600"/>
            <a:ext cx="2419350" cy="847725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sp>
        <p:nvSpPr>
          <p:cNvPr id="4" name="Slide Numb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6DBAA-AAD8-4701-4979-E9500C78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-1012975"/>
            <a:ext cx="5148378" cy="10129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60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411896"/>
            <a:ext cx="6711950" cy="483454"/>
          </a:xfrm>
        </p:spPr>
        <p:txBody>
          <a:bodyPr/>
          <a:lstStyle>
            <a:lvl1pPr>
              <a:lnSpc>
                <a:spcPts val="34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IE" noProof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FA51FB-DB38-4837-90B7-21CD244F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79425" y="1104900"/>
            <a:ext cx="1119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CD56DE-DD12-4042-A24B-689D9F60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79425" y="2914650"/>
            <a:ext cx="1119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94B333-D9D2-41AF-B703-13749ED01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79425" y="4705350"/>
            <a:ext cx="1119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‹Nr.›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478535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Icons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411896"/>
            <a:ext cx="6711950" cy="483454"/>
          </a:xfrm>
        </p:spPr>
        <p:txBody>
          <a:bodyPr/>
          <a:lstStyle>
            <a:lvl1pPr>
              <a:lnSpc>
                <a:spcPts val="34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IE" noProof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FA51FB-DB38-4837-90B7-21CD244F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79425" y="1104900"/>
            <a:ext cx="1119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CD56DE-DD12-4042-A24B-689D9F60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79425" y="2914650"/>
            <a:ext cx="1119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94B333-D9D2-41AF-B703-13749ED01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79425" y="4705350"/>
            <a:ext cx="1119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528390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/Graph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57DB79-C6EC-4871-8A1E-F2CD07968B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5413" y="411163"/>
            <a:ext cx="5200650" cy="454025"/>
          </a:xfrm>
        </p:spPr>
        <p:txBody>
          <a:bodyPr/>
          <a:lstStyle>
            <a:lvl1pPr>
              <a:lnSpc>
                <a:spcPts val="3400"/>
              </a:lnSpc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sp>
        <p:nvSpPr>
          <p:cNvPr id="5" name="Slide Numb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18D1CB4-3745-C1B6-D9F6-9D5E0C188B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130" y="411163"/>
            <a:ext cx="5200650" cy="454025"/>
          </a:xfrm>
        </p:spPr>
        <p:txBody>
          <a:bodyPr/>
          <a:lstStyle>
            <a:lvl1pPr>
              <a:lnSpc>
                <a:spcPts val="3400"/>
              </a:lnSpc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 dirty="0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E44077D-1DFF-E2D9-229D-4D770F71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-1012975"/>
            <a:ext cx="5148378" cy="10129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5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BC2A18C-8650-2F60-CE29-2C347EE3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73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t>‹Nr.›</a:t>
            </a:fld>
            <a:endParaRPr lang="en-I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E1E26-CBB8-42AD-D2F2-CFD1AA3D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-1012975"/>
            <a:ext cx="5148378" cy="10129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4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79CB29-C9EF-B396-C2DB-22C42657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97867"/>
            <a:ext cx="12192000" cy="462583"/>
          </a:xfrm>
          <a:prstGeom prst="rect">
            <a:avLst/>
          </a:prstGeom>
          <a:solidFill>
            <a:srgbClr val="001E6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6" y="388336"/>
            <a:ext cx="5148378" cy="10129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IE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425" y="4340612"/>
            <a:ext cx="5148378" cy="17729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IE" noProof="0" dirty="0"/>
              <a:t>Click to edit Master text styles</a:t>
            </a:r>
          </a:p>
          <a:p>
            <a:pPr lvl="1"/>
            <a:r>
              <a:rPr lang="en-IE" noProof="0" dirty="0"/>
              <a:t>Second level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740" y="6511066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4CF6A-0E47-4A92-9705-AAB0CAB4E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75343" y="6566847"/>
            <a:ext cx="218745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spc="-10" baseline="0" dirty="0">
                <a:solidFill>
                  <a:schemeClr val="bg1"/>
                </a:solidFill>
              </a:rPr>
              <a:t>Trinity College Dublin, The University of Dublin</a:t>
            </a:r>
            <a:endParaRPr lang="en-GB" sz="900" spc="-1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75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1" r:id="rId2"/>
    <p:sldLayoutId id="2147483662" r:id="rId3"/>
    <p:sldLayoutId id="2147483667" r:id="rId4"/>
    <p:sldLayoutId id="2147483680" r:id="rId5"/>
    <p:sldLayoutId id="2147483668" r:id="rId6"/>
    <p:sldLayoutId id="2147483664" r:id="rId7"/>
    <p:sldLayoutId id="2147483678" r:id="rId8"/>
    <p:sldLayoutId id="2147483674" r:id="rId9"/>
    <p:sldLayoutId id="2147483666" r:id="rId10"/>
    <p:sldLayoutId id="2147483670" r:id="rId11"/>
    <p:sldLayoutId id="2147483669" r:id="rId12"/>
    <p:sldLayoutId id="2147483671" r:id="rId13"/>
    <p:sldLayoutId id="2147483672" r:id="rId14"/>
    <p:sldLayoutId id="2147483675" r:id="rId15"/>
    <p:sldLayoutId id="2147483673" r:id="rId16"/>
    <p:sldLayoutId id="2147483679" r:id="rId17"/>
    <p:sldLayoutId id="2147483660" r:id="rId18"/>
  </p:sldLayoutIdLst>
  <p:hf hdr="0" ftr="0" dt="0"/>
  <p:txStyles>
    <p:titleStyle>
      <a:lvl1pPr algn="l" defTabSz="914377" rtl="0" eaLnBrk="1" latinLnBrk="0" hangingPunct="1">
        <a:lnSpc>
          <a:spcPts val="37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spcBef>
          <a:spcPts val="0"/>
        </a:spcBef>
        <a:buFont typeface="Arial" pitchFamily="34" charset="0"/>
        <a:buNone/>
        <a:defRPr sz="2400" kern="1200">
          <a:solidFill>
            <a:srgbClr val="50555A"/>
          </a:solidFill>
          <a:latin typeface="+mn-lt"/>
          <a:ea typeface="+mn-ea"/>
          <a:cs typeface="+mn-cs"/>
        </a:defRPr>
      </a:lvl1pPr>
      <a:lvl2pPr marL="342900" indent="-342900" algn="l" defTabSz="914377" rtl="0" eaLnBrk="1" latinLnBrk="0" hangingPunct="1">
        <a:spcBef>
          <a:spcPct val="20000"/>
        </a:spcBef>
        <a:buClr>
          <a:schemeClr val="tx2"/>
        </a:buClr>
        <a:buFont typeface="Source Sans Pro" panose="020B0503030403020204" pitchFamily="34" charset="0"/>
        <a:buChar char="—"/>
        <a:defRPr sz="2400" kern="1200">
          <a:solidFill>
            <a:srgbClr val="50555A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rgbClr val="50555A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rgbClr val="50555A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rgbClr val="50555A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2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5" pos="7355" userDrawn="1">
          <p15:clr>
            <a:srgbClr val="F26B43"/>
          </p15:clr>
        </p15:guide>
        <p15:guide id="6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magdihss@tcd.ie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5AE641-E182-4D24-A995-46CBAA971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Sarah Magdihs</a:t>
            </a:r>
          </a:p>
          <a:p>
            <a:r>
              <a:rPr lang="en-GB" noProof="0" dirty="0"/>
              <a:t>Stats II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F404E-C276-4E8F-9803-B716506A5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4" y="2880360"/>
            <a:ext cx="11293475" cy="1348966"/>
          </a:xfrm>
        </p:spPr>
        <p:txBody>
          <a:bodyPr/>
          <a:lstStyle/>
          <a:p>
            <a:r>
              <a:rPr lang="en-GB" sz="6000" b="1" i="1" noProof="0" dirty="0"/>
              <a:t>Replication Project? </a:t>
            </a:r>
            <a:br>
              <a:rPr lang="en-GB" sz="6000" b="1" i="1" noProof="0" dirty="0"/>
            </a:br>
            <a:r>
              <a:rPr lang="en-GB" sz="2800" b="1" i="1" noProof="0" dirty="0"/>
              <a:t>Schonfeld, B., &amp; Winter-Levy, S. (2021). Policy or Partisanship in the</a:t>
            </a:r>
            <a:br>
              <a:rPr lang="en-GB" sz="2800" b="1" i="1" noProof="0" dirty="0"/>
            </a:br>
            <a:r>
              <a:rPr lang="en-GB" sz="2800" b="1" i="1" noProof="0" dirty="0"/>
              <a:t>United Kingdom? Quasi-Experimental Evidence from Brexit</a:t>
            </a:r>
            <a:endParaRPr lang="en-GB" b="1" i="1" noProof="0" dirty="0"/>
          </a:p>
        </p:txBody>
      </p:sp>
    </p:spTree>
    <p:extLst>
      <p:ext uri="{BB962C8B-B14F-4D97-AF65-F5344CB8AC3E}">
        <p14:creationId xmlns:p14="http://schemas.microsoft.com/office/powerpoint/2010/main" val="403192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0C120F-0B2E-C7AB-95B8-D62240674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Who am I?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A720E8-C76C-CC98-EF87-EAC8B4E9C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570291"/>
            <a:ext cx="6390005" cy="3136153"/>
          </a:xfrm>
        </p:spPr>
        <p:txBody>
          <a:bodyPr/>
          <a:lstStyle/>
          <a:p>
            <a:pPr algn="just"/>
            <a:r>
              <a:rPr lang="en-GB" b="1" noProof="0" dirty="0"/>
              <a:t>Sarah Magdihs</a:t>
            </a:r>
          </a:p>
          <a:p>
            <a:pPr algn="just"/>
            <a:r>
              <a:rPr lang="en-GB" noProof="0" dirty="0">
                <a:hlinkClick r:id="rId2"/>
              </a:rPr>
              <a:t>magdihss@tcd.ie</a:t>
            </a:r>
            <a:endParaRPr lang="en-GB" noProof="0" dirty="0"/>
          </a:p>
          <a:p>
            <a:pPr algn="just"/>
            <a:endParaRPr lang="en-GB" noProof="0" dirty="0"/>
          </a:p>
          <a:p>
            <a:pPr algn="just"/>
            <a:r>
              <a:rPr lang="en-GB" b="1" noProof="0" dirty="0"/>
              <a:t>PhD Student</a:t>
            </a:r>
            <a:r>
              <a:rPr lang="en-GB" noProof="0" dirty="0"/>
              <a:t> in Political Science, TCD</a:t>
            </a:r>
          </a:p>
          <a:p>
            <a:pPr algn="just"/>
            <a:r>
              <a:rPr lang="en-GB" noProof="0" dirty="0"/>
              <a:t>Education: BA &amp; MA in Political Science, University of Vienna </a:t>
            </a:r>
          </a:p>
          <a:p>
            <a:pPr algn="just"/>
            <a:endParaRPr lang="en-GB" noProof="0" dirty="0"/>
          </a:p>
          <a:p>
            <a:r>
              <a:rPr lang="en-GB" b="1" noProof="0" dirty="0"/>
              <a:t>Research interests</a:t>
            </a:r>
            <a:r>
              <a:rPr lang="en-GB" noProof="0" dirty="0"/>
              <a:t>: Comparative Politics, Political Representation, Political Communication, Political Behaviour, Right-Wing Populism, Gender Politics, etc. </a:t>
            </a:r>
          </a:p>
          <a:p>
            <a:pPr algn="just"/>
            <a:endParaRPr lang="en-GB" noProof="0" dirty="0"/>
          </a:p>
          <a:p>
            <a:pPr algn="just"/>
            <a:endParaRPr lang="en-GB" noProof="0" dirty="0"/>
          </a:p>
          <a:p>
            <a:pPr algn="just"/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0FCC46-C149-7761-A995-C2C70F930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GB" noProof="0" smtClean="0"/>
              <a:pPr/>
              <a:t>2</a:t>
            </a:fld>
            <a:endParaRPr lang="en-GB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E9354E4-1575-2EEB-E609-F2BC095B7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831" y="388336"/>
            <a:ext cx="21209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4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27B0D-C85C-544E-4049-49B5D51E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AGENDA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AC5787-C732-2966-A4C7-7B5EEAF81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570291"/>
            <a:ext cx="11712575" cy="313615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Background of the Study 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/>
              <a:t>Context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/>
              <a:t>Research Question 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/>
              <a:t>Methods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noProof="0" dirty="0"/>
              <a:t>Hypotheses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Replication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Extension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NOTE: this is not the final version but Overleaf is not doing what I want right now, so this has got to do for now, given that the deadline is now. I promise it will </a:t>
            </a:r>
            <a:r>
              <a:rPr lang="en-GB"/>
              <a:t>look actually good soon. 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8A2F58-BA82-26EA-6C49-E30FC8878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GB" noProof="0" smtClean="0"/>
              <a:pPr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593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79246E-1542-1159-1350-1E78203D0A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Background of the Study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CE8E95-6D3C-4F85-60CB-BF7B7ADEF7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3308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668CB-C8A6-358A-BD0E-91DD1FEF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Background 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458D00-175E-675D-23A7-A0B281EB1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570291"/>
            <a:ext cx="10987316" cy="313615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0" dirty="0"/>
              <a:t>voters are motivated by policy preferences or partisan identities?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two main hypotheses 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‘</a:t>
            </a:r>
            <a:r>
              <a:rPr lang="en-GB" sz="2000" dirty="0"/>
              <a:t>party-over-policy’ hypothesis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‘policy-over-party’ hypothesis</a:t>
            </a:r>
            <a:endParaRPr lang="en-GB" sz="2000" noProof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Definitive evidence is hard to come by due to methodological issues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overcome these challenges: “</a:t>
            </a:r>
            <a:r>
              <a:rPr lang="en-GB" b="1" i="1" dirty="0"/>
              <a:t>study party realignments, which can occur when the policy position of a major party changes rapidly and significantly</a:t>
            </a:r>
            <a:r>
              <a:rPr lang="en-GB" dirty="0"/>
              <a:t>” </a:t>
            </a:r>
            <a:r>
              <a:rPr lang="en-GB" sz="1400" dirty="0"/>
              <a:t>(Schonfeld &amp; Winter-Levy, 2021, p. 1451).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C342A3-B370-0747-3388-64CA869EA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GB" noProof="0" smtClean="0"/>
              <a:pPr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0832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BE537-8898-BA91-0248-6E8973E3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6DF11-9318-1075-A51E-5BC2A6E7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Background II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44B42B-8FBC-7FFD-DE72-E5994FBE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570291"/>
            <a:ext cx="10987316" cy="313615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focuses on the ”sudden, unanticipated shift in Conservative Party positioning on Brexit following the surprising result of the 2016 referendum” (p. 1451).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In the aftermath of the 2016 Brexit referendum in the UK, the British Conservative Party repositioned themselves as a pro-Brexit party,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British Election Study: panel data prior to and post referendum (Wave 8 and Wave 9).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E6FB73-2A15-B7E2-F907-D8428322A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GB" noProof="0" smtClean="0"/>
              <a:pPr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2683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369-07B1-FAA4-7B6F-C75D4AF6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5F01B-07A3-A1BF-4C44-0E493418D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Replication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4FF1C0-C61F-5918-8C03-0C33ACAB8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1975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FC10-42A9-EB1F-3C0C-273CF0A7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B06B29-46BD-3590-3BC0-FF5870EF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54A6D4-89AE-4407-1246-548E344EC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8</a:t>
            </a:fld>
            <a:endParaRPr lang="en-IE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2991EFE-323D-EC58-485A-D7932C099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579" y="481527"/>
            <a:ext cx="7772400" cy="5313680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521C58D-3F35-4B2D-7943-389679023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996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02918-CC79-45AF-37D5-B1CA9DDC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29AE236-F78B-A2D9-7914-838800A94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259" y="388336"/>
            <a:ext cx="8541482" cy="5705488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A355C0-E08F-F6B6-82BF-3B2A1E871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9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3469187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91D76-0AAF-BCCD-0FDC-31D0E0C41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D7CC7B-AA23-3526-DFC8-B65A6D1A8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Extension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6065A4-CFB3-CBFA-DA01-8D2BA210A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752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3A0F3-17B3-F732-2C6F-5C3C6144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0B9B6FDC-011F-DBE3-452D-6C718259D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338" y="388336"/>
            <a:ext cx="6522932" cy="5697245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9237EE-2574-AEBB-4572-E618EB9A3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11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71976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3617B8-A680-4F63-B32D-C266A2AE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ADD0F00-8E09-1896-8082-7B3F8B1FC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20108" y="388336"/>
            <a:ext cx="6627687" cy="5788740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E3AD22-870B-B72E-06B7-4161FCD0C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12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1159176573"/>
      </p:ext>
    </p:extLst>
  </p:cSld>
  <p:clrMapOvr>
    <a:masterClrMapping/>
  </p:clrMapOvr>
</p:sld>
</file>

<file path=ppt/theme/theme1.xml><?xml version="1.0" encoding="utf-8"?>
<a:theme xmlns:a="http://schemas.openxmlformats.org/drawingml/2006/main" name="TCD">
  <a:themeElements>
    <a:clrScheme name="TCD">
      <a:dk1>
        <a:srgbClr val="0569B9"/>
      </a:dk1>
      <a:lt1>
        <a:sysClr val="window" lastClr="FFFFFF"/>
      </a:lt1>
      <a:dk2>
        <a:srgbClr val="50555A"/>
      </a:dk2>
      <a:lt2>
        <a:srgbClr val="FFFFFF"/>
      </a:lt2>
      <a:accent1>
        <a:srgbClr val="0569B9"/>
      </a:accent1>
      <a:accent2>
        <a:srgbClr val="00AACD"/>
      </a:accent2>
      <a:accent3>
        <a:srgbClr val="00B4AA"/>
      </a:accent3>
      <a:accent4>
        <a:srgbClr val="32D732"/>
      </a:accent4>
      <a:accent5>
        <a:srgbClr val="FF641E"/>
      </a:accent5>
      <a:accent6>
        <a:srgbClr val="823278"/>
      </a:accent6>
      <a:hlink>
        <a:srgbClr val="0569B9"/>
      </a:hlink>
      <a:folHlink>
        <a:srgbClr val="0569B9"/>
      </a:folHlink>
    </a:clrScheme>
    <a:fontScheme name="TCD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900" dirty="0" smtClean="0"/>
        </a:defPPr>
      </a:lstStyle>
    </a:txDef>
  </a:objectDefaults>
  <a:extraClrSchemeLst/>
  <a:custClrLst>
    <a:custClr name="0569B9">
      <a:srgbClr val="0569B9"/>
    </a:custClr>
    <a:custClr name="00AACD">
      <a:srgbClr val="00AACD"/>
    </a:custClr>
    <a:custClr name="50555A">
      <a:srgbClr val="50555A"/>
    </a:custClr>
    <a:custClr name="00B4AA">
      <a:srgbClr val="00B4AA"/>
    </a:custClr>
    <a:custClr name="32D732">
      <a:srgbClr val="32D732"/>
    </a:custClr>
    <a:custClr name="96D700">
      <a:srgbClr val="96D700"/>
    </a:custClr>
    <a:custClr name="D2E100">
      <a:srgbClr val="D2E100"/>
    </a:custClr>
    <a:custClr name="FFD200">
      <a:srgbClr val="FFD200"/>
    </a:custClr>
    <a:custClr name="C8AA78">
      <a:srgbClr val="C8AA78"/>
    </a:custClr>
    <a:custClr name="FF641E">
      <a:srgbClr val="FF641E"/>
    </a:custClr>
    <a:custClr name="DC281E">
      <a:srgbClr val="DC281E"/>
    </a:custClr>
    <a:custClr name="823278">
      <a:srgbClr val="823278"/>
    </a:custClr>
    <a:custClr name="001E69">
      <a:srgbClr val="001E69"/>
    </a:custClr>
  </a:custClrLst>
  <a:extLst>
    <a:ext uri="{05A4C25C-085E-4340-85A3-A5531E510DB2}">
      <thm15:themeFamily xmlns:thm15="http://schemas.microsoft.com/office/thememl/2012/main" name="TCD PowerPoint Template.potx" id="{3FD4EF08-68AF-4013-B6EE-8C410FDC55A0}" vid="{3B775C0D-229C-45E1-96B9-EF40D71C82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TCD</Template>
  <TotalTime>0</TotalTime>
  <Words>299</Words>
  <Application>Microsoft Macintosh PowerPoint</Application>
  <PresentationFormat>Breitbild</PresentationFormat>
  <Paragraphs>45</Paragraphs>
  <Slides>12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Source Sans Pro</vt:lpstr>
      <vt:lpstr>TCD</vt:lpstr>
      <vt:lpstr>Replication Project?  Schonfeld, B., &amp; Winter-Levy, S. (2021). Policy or Partisanship in the United Kingdom? Quasi-Experimental Evidence from Brexit</vt:lpstr>
      <vt:lpstr>Who am I?</vt:lpstr>
      <vt:lpstr>AGENDA </vt:lpstr>
      <vt:lpstr>Background of the Study </vt:lpstr>
      <vt:lpstr>Background I</vt:lpstr>
      <vt:lpstr>Background II</vt:lpstr>
      <vt:lpstr>Replication</vt:lpstr>
      <vt:lpstr>PowerPoint-Präsentation</vt:lpstr>
      <vt:lpstr>PowerPoint-Präsentation</vt:lpstr>
      <vt:lpstr>Extension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 consectetuer adipiscing</dc:title>
  <dc:subject/>
  <dc:creator>keith@detail.ie</dc:creator>
  <cp:keywords/>
  <dc:description/>
  <cp:lastModifiedBy>Sarah Magdihs</cp:lastModifiedBy>
  <cp:revision>105</cp:revision>
  <dcterms:created xsi:type="dcterms:W3CDTF">2021-05-20T08:55:03Z</dcterms:created>
  <dcterms:modified xsi:type="dcterms:W3CDTF">2026-04-01T21:53:13Z</dcterms:modified>
  <cp:category/>
</cp:coreProperties>
</file>